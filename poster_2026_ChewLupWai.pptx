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925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chool_logo.png"/>
          <p:cNvPicPr>
            <a:picLocks noChangeAspect="1"/>
          </p:cNvPicPr>
          <p:nvPr/>
        </p:nvPicPr>
        <p:blipFill>
          <a:blip r:embed="rId2"/>
          <a:stretch>
            <a:fillRect/>
          </a:stretch>
        </p:blipFill>
        <p:spPr>
          <a:xfrm>
            <a:off x="243870" y="121935"/>
            <a:ext cx="1038627" cy="548709"/>
          </a:xfrm>
          <a:prstGeom prst="rect">
            <a:avLst/>
          </a:prstGeom>
        </p:spPr>
      </p:pic>
      <p:sp>
        <p:nvSpPr>
          <p:cNvPr id="4" name="TextBox 3"/>
          <p:cNvSpPr txBox="1"/>
          <p:nvPr/>
        </p:nvSpPr>
        <p:spPr>
          <a:xfrm>
            <a:off x="2560645" y="109741"/>
            <a:ext cx="4755485" cy="243870"/>
          </a:xfrm>
          <a:prstGeom prst="rect">
            <a:avLst/>
          </a:prstGeom>
          <a:noFill/>
        </p:spPr>
        <p:txBody>
          <a:bodyPr wrap="square">
            <a:spAutoFit/>
          </a:bodyPr>
          <a:lstStyle/>
          <a:p>
            <a:pPr algn="r"/>
            <a:r>
              <a:rPr sz="1400" b="0" i="0">
                <a:solidFill>
                  <a:srgbClr val="222222"/>
                </a:solidFill>
                <a:latin typeface="Noto Serif CJK SC"/>
              </a:rPr>
              <a:t>交大设计建筑学建筑技术前沿系列讲座</a:t>
            </a:r>
          </a:p>
        </p:txBody>
      </p:sp>
      <p:sp>
        <p:nvSpPr>
          <p:cNvPr id="5" name="TextBox 4"/>
          <p:cNvSpPr txBox="1"/>
          <p:nvPr/>
        </p:nvSpPr>
        <p:spPr>
          <a:xfrm>
            <a:off x="2560645" y="317032"/>
            <a:ext cx="4145808" cy="219483"/>
          </a:xfrm>
          <a:prstGeom prst="rect">
            <a:avLst/>
          </a:prstGeom>
          <a:noFill/>
        </p:spPr>
        <p:txBody>
          <a:bodyPr wrap="square">
            <a:spAutoFit/>
          </a:bodyPr>
          <a:lstStyle/>
          <a:p>
            <a:pPr algn="r"/>
            <a:r>
              <a:rPr sz="850" b="0" i="0">
                <a:solidFill>
                  <a:srgbClr val="555555"/>
                </a:solidFill>
                <a:latin typeface="Liberation Sans"/>
              </a:rPr>
              <a:t>SJTU-ARCH LECTURE SERIES OF
BUILDING TECHNOLOGY</a:t>
            </a:r>
          </a:p>
        </p:txBody>
      </p:sp>
      <p:sp>
        <p:nvSpPr>
          <p:cNvPr id="6" name="TextBox 5"/>
          <p:cNvSpPr txBox="1"/>
          <p:nvPr/>
        </p:nvSpPr>
        <p:spPr>
          <a:xfrm>
            <a:off x="6523551" y="231677"/>
            <a:ext cx="853547" cy="438967"/>
          </a:xfrm>
          <a:prstGeom prst="rect">
            <a:avLst/>
          </a:prstGeom>
          <a:noFill/>
        </p:spPr>
        <p:txBody>
          <a:bodyPr wrap="square">
            <a:spAutoFit/>
          </a:bodyPr>
          <a:lstStyle/>
          <a:p>
            <a:pPr algn="r"/>
            <a:r>
              <a:rPr sz="4600" b="1" i="0">
                <a:solidFill>
                  <a:srgbClr val="222222"/>
                </a:solidFill>
                <a:latin typeface="Liberation Sans"/>
              </a:rPr>
              <a:t>2026</a:t>
            </a:r>
          </a:p>
        </p:txBody>
      </p:sp>
      <p:cxnSp>
        <p:nvCxnSpPr>
          <p:cNvPr id="7" name="Connector 6"/>
          <p:cNvCxnSpPr/>
          <p:nvPr/>
        </p:nvCxnSpPr>
        <p:spPr>
          <a:xfrm>
            <a:off x="0" y="792580"/>
            <a:ext cx="7560000" cy="0"/>
          </a:xfrm>
          <a:prstGeom prst="line">
            <a:avLst/>
          </a:prstGeom>
          <a:ln w="6350">
            <a:solidFill>
              <a:srgbClr val="B4B4B4"/>
            </a:solidFill>
          </a:ln>
        </p:spPr>
        <p:style>
          <a:lnRef idx="2">
            <a:schemeClr val="accent1"/>
          </a:lnRef>
          <a:fillRef idx="0">
            <a:schemeClr val="accent1"/>
          </a:fillRef>
          <a:effectRef idx="1">
            <a:schemeClr val="accent1"/>
          </a:effectRef>
          <a:fontRef idx="minor">
            <a:schemeClr val="tx1"/>
          </a:fontRef>
        </p:style>
      </p:cxnSp>
      <p:pic>
        <p:nvPicPr>
          <p:cNvPr id="8" name="Picture 7" descr="banner_new.png"/>
          <p:cNvPicPr>
            <a:picLocks noChangeAspect="1"/>
          </p:cNvPicPr>
          <p:nvPr/>
        </p:nvPicPr>
        <p:blipFill>
          <a:blip r:embed="rId3"/>
          <a:stretch>
            <a:fillRect/>
          </a:stretch>
        </p:blipFill>
        <p:spPr>
          <a:xfrm>
            <a:off x="0" y="792580"/>
            <a:ext cx="7560000" cy="4370077"/>
          </a:xfrm>
          <a:prstGeom prst="rect">
            <a:avLst/>
          </a:prstGeom>
        </p:spPr>
      </p:pic>
      <p:sp>
        <p:nvSpPr>
          <p:cNvPr id="9" name="TextBox 8"/>
          <p:cNvSpPr txBox="1"/>
          <p:nvPr/>
        </p:nvSpPr>
        <p:spPr>
          <a:xfrm>
            <a:off x="243870" y="5248011"/>
            <a:ext cx="2316774" cy="256064"/>
          </a:xfrm>
          <a:prstGeom prst="rect">
            <a:avLst/>
          </a:prstGeom>
          <a:noFill/>
        </p:spPr>
        <p:txBody>
          <a:bodyPr wrap="square">
            <a:spAutoFit/>
          </a:bodyPr>
          <a:lstStyle/>
          <a:p>
            <a:pPr algn="l"/>
            <a:r>
              <a:rPr sz="1800" b="1" i="0">
                <a:solidFill>
                  <a:srgbClr val="8B1A1A"/>
                </a:solidFill>
                <a:latin typeface="Liberation Serif"/>
              </a:rPr>
              <a:t>LECTURE ABSTRACT</a:t>
            </a:r>
          </a:p>
        </p:txBody>
      </p:sp>
      <p:sp>
        <p:nvSpPr>
          <p:cNvPr id="10" name="TextBox 9"/>
          <p:cNvSpPr txBox="1"/>
          <p:nvPr/>
        </p:nvSpPr>
        <p:spPr>
          <a:xfrm>
            <a:off x="2133870" y="5272398"/>
            <a:ext cx="975483" cy="256064"/>
          </a:xfrm>
          <a:prstGeom prst="rect">
            <a:avLst/>
          </a:prstGeom>
          <a:noFill/>
        </p:spPr>
        <p:txBody>
          <a:bodyPr wrap="square">
            <a:spAutoFit/>
          </a:bodyPr>
          <a:lstStyle/>
          <a:p>
            <a:pPr algn="l"/>
            <a:r>
              <a:rPr sz="1400" b="0" i="0">
                <a:solidFill>
                  <a:srgbClr val="222222"/>
                </a:solidFill>
                <a:latin typeface="Noto Serif CJK SC"/>
              </a:rPr>
              <a:t>主讲内容</a:t>
            </a:r>
          </a:p>
        </p:txBody>
      </p:sp>
      <p:cxnSp>
        <p:nvCxnSpPr>
          <p:cNvPr id="11" name="Connector 10"/>
          <p:cNvCxnSpPr/>
          <p:nvPr/>
        </p:nvCxnSpPr>
        <p:spPr>
          <a:xfrm>
            <a:off x="243870" y="5504075"/>
            <a:ext cx="7072260" cy="0"/>
          </a:xfrm>
          <a:prstGeom prst="line">
            <a:avLst/>
          </a:prstGeom>
          <a:ln w="9525">
            <a:solidFill>
              <a:srgbClr val="B4B4B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43870" y="5589429"/>
            <a:ext cx="7072260" cy="1829032"/>
          </a:xfrm>
          <a:prstGeom prst="rect">
            <a:avLst/>
          </a:prstGeom>
          <a:noFill/>
        </p:spPr>
        <p:txBody>
          <a:bodyPr wrap="square">
            <a:spAutoFit/>
          </a:bodyPr>
          <a:lstStyle/>
          <a:p>
            <a:pPr algn="just">
              <a:lnSpc>
                <a:spcPct val="155000"/>
              </a:lnSpc>
            </a:pPr>
            <a:r>
              <a:rPr sz="1000" b="0" i="0">
                <a:solidFill>
                  <a:srgbClr val="222222"/>
                </a:solidFill>
                <a:latin typeface="Liberation Serif"/>
              </a:rPr>
              <a:t>Have you ever considered how scaled-down building models (order of centimeters) can be used to analyze airflows around actual buildings (order of meters)? The answer lies in the concept of similarity - flows with similar dimensionless parameters behave the same way despite differences in scale, size, or other physical parameters. This seminar explores two errors commonly made in urban airflow modeling research. The behavior of airflows over buildings is determined by the dimensionless parameter Reynolds number, Re = UH/v, where U is a reference wind speed, H is the building height, and v is the kinematic viscosity of air. Real, full-scale buildings have H ranges from several meters to hundreds of meters, resulting in Re typically between 1,000,000 and 10,000,000. In contrast, wind tunnel experiments involve models with H measured in centimeters, resulting in Re around 1,000 to 10,000, much lower than those at full scale. This disparity in Re between scaled models and actual buildings is often circumvented using the Re-independent assumption, which enables us to study airflow patterns in wind tunnels and apply the findings to real buildings. Through experiments and computational fluid dynamics, I will demonstrate that the Re-independent assumption holds true only in simple cases, such as isothermal flows over a single building. Applying this assumption to more complex scenarios involving multiple buildings or heat transfer can lead to significant errors and incorrect predictions of the overall wind field around buildings. Some recent findings on similarity in urban airflow modeling will also be shared.</a:t>
            </a:r>
          </a:p>
        </p:txBody>
      </p:sp>
      <p:pic>
        <p:nvPicPr>
          <p:cNvPr id="13" name="Picture 12" descr="photo.jpg"/>
          <p:cNvPicPr>
            <a:picLocks noChangeAspect="1"/>
          </p:cNvPicPr>
          <p:nvPr/>
        </p:nvPicPr>
        <p:blipFill>
          <a:blip r:embed="rId4"/>
          <a:stretch>
            <a:fillRect/>
          </a:stretch>
        </p:blipFill>
        <p:spPr>
          <a:xfrm>
            <a:off x="243870" y="7540395"/>
            <a:ext cx="853548" cy="853548"/>
          </a:xfrm>
          <a:prstGeom prst="rect">
            <a:avLst/>
          </a:prstGeom>
        </p:spPr>
      </p:pic>
      <p:sp>
        <p:nvSpPr>
          <p:cNvPr id="14" name="TextBox 13"/>
          <p:cNvSpPr txBox="1"/>
          <p:nvPr/>
        </p:nvSpPr>
        <p:spPr>
          <a:xfrm>
            <a:off x="243870" y="8436620"/>
            <a:ext cx="975483" cy="134129"/>
          </a:xfrm>
          <a:prstGeom prst="rect">
            <a:avLst/>
          </a:prstGeom>
          <a:noFill/>
        </p:spPr>
        <p:txBody>
          <a:bodyPr wrap="square">
            <a:spAutoFit/>
          </a:bodyPr>
          <a:lstStyle/>
          <a:p>
            <a:pPr algn="l"/>
            <a:r>
              <a:rPr sz="900" b="1" i="0">
                <a:solidFill>
                  <a:srgbClr val="222222"/>
                </a:solidFill>
                <a:latin typeface="Liberation Serif"/>
              </a:rPr>
              <a:t>Dr. Chew Lup Wai</a:t>
            </a:r>
          </a:p>
        </p:txBody>
      </p:sp>
      <p:sp>
        <p:nvSpPr>
          <p:cNvPr id="15" name="TextBox 14"/>
          <p:cNvSpPr txBox="1"/>
          <p:nvPr/>
        </p:nvSpPr>
        <p:spPr>
          <a:xfrm>
            <a:off x="243870" y="8558555"/>
            <a:ext cx="975483" cy="121935"/>
          </a:xfrm>
          <a:prstGeom prst="rect">
            <a:avLst/>
          </a:prstGeom>
          <a:noFill/>
        </p:spPr>
        <p:txBody>
          <a:bodyPr wrap="square">
            <a:spAutoFit/>
          </a:bodyPr>
          <a:lstStyle/>
          <a:p>
            <a:pPr algn="l"/>
            <a:r>
              <a:rPr sz="900" b="0" i="0">
                <a:solidFill>
                  <a:srgbClr val="222222"/>
                </a:solidFill>
                <a:latin typeface="Liberation Serif"/>
              </a:rPr>
              <a:t>Assistant Professor,</a:t>
            </a:r>
          </a:p>
        </p:txBody>
      </p:sp>
      <p:sp>
        <p:nvSpPr>
          <p:cNvPr id="16" name="TextBox 15"/>
          <p:cNvSpPr txBox="1"/>
          <p:nvPr/>
        </p:nvSpPr>
        <p:spPr>
          <a:xfrm>
            <a:off x="243870" y="8680490"/>
            <a:ext cx="975483" cy="121935"/>
          </a:xfrm>
          <a:prstGeom prst="rect">
            <a:avLst/>
          </a:prstGeom>
          <a:noFill/>
        </p:spPr>
        <p:txBody>
          <a:bodyPr wrap="square">
            <a:spAutoFit/>
          </a:bodyPr>
          <a:lstStyle/>
          <a:p>
            <a:pPr algn="l"/>
            <a:r>
              <a:rPr sz="900" b="0" i="0">
                <a:solidFill>
                  <a:srgbClr val="222222"/>
                </a:solidFill>
                <a:latin typeface="Liberation Serif"/>
              </a:rPr>
              <a:t>College of Design &amp; Engineering,</a:t>
            </a:r>
          </a:p>
        </p:txBody>
      </p:sp>
      <p:sp>
        <p:nvSpPr>
          <p:cNvPr id="17" name="TextBox 16"/>
          <p:cNvSpPr txBox="1"/>
          <p:nvPr/>
        </p:nvSpPr>
        <p:spPr>
          <a:xfrm>
            <a:off x="243870" y="8802425"/>
            <a:ext cx="975483" cy="121935"/>
          </a:xfrm>
          <a:prstGeom prst="rect">
            <a:avLst/>
          </a:prstGeom>
          <a:noFill/>
        </p:spPr>
        <p:txBody>
          <a:bodyPr wrap="square">
            <a:spAutoFit/>
          </a:bodyPr>
          <a:lstStyle/>
          <a:p>
            <a:pPr algn="l"/>
            <a:r>
              <a:rPr sz="900" b="0" i="0">
                <a:solidFill>
                  <a:srgbClr val="222222"/>
                </a:solidFill>
                <a:latin typeface="Liberation Serif"/>
              </a:rPr>
              <a:t>NUS, Singapore.</a:t>
            </a:r>
          </a:p>
        </p:txBody>
      </p:sp>
      <p:sp>
        <p:nvSpPr>
          <p:cNvPr id="18" name="TextBox 17"/>
          <p:cNvSpPr txBox="1"/>
          <p:nvPr/>
        </p:nvSpPr>
        <p:spPr>
          <a:xfrm>
            <a:off x="1268127" y="7540395"/>
            <a:ext cx="2316774" cy="268258"/>
          </a:xfrm>
          <a:prstGeom prst="rect">
            <a:avLst/>
          </a:prstGeom>
          <a:noFill/>
        </p:spPr>
        <p:txBody>
          <a:bodyPr wrap="square">
            <a:spAutoFit/>
          </a:bodyPr>
          <a:lstStyle/>
          <a:p>
            <a:pPr algn="l"/>
            <a:r>
              <a:rPr sz="2200" b="1" i="0">
                <a:solidFill>
                  <a:srgbClr val="222222"/>
                </a:solidFill>
                <a:latin typeface="Liberation Serif"/>
              </a:rPr>
              <a:t>CHEW LUP WAI</a:t>
            </a:r>
          </a:p>
        </p:txBody>
      </p:sp>
      <p:sp>
        <p:nvSpPr>
          <p:cNvPr id="19" name="TextBox 18"/>
          <p:cNvSpPr txBox="1"/>
          <p:nvPr/>
        </p:nvSpPr>
        <p:spPr>
          <a:xfrm>
            <a:off x="3158127" y="7564782"/>
            <a:ext cx="731612" cy="219483"/>
          </a:xfrm>
          <a:prstGeom prst="rect">
            <a:avLst/>
          </a:prstGeom>
          <a:noFill/>
        </p:spPr>
        <p:txBody>
          <a:bodyPr wrap="square">
            <a:spAutoFit/>
          </a:bodyPr>
          <a:lstStyle/>
          <a:p>
            <a:pPr algn="l"/>
            <a:r>
              <a:rPr sz="1400" b="0" i="0">
                <a:solidFill>
                  <a:srgbClr val="222222"/>
                </a:solidFill>
                <a:latin typeface="Noto Serif CJK SC"/>
              </a:rPr>
              <a:t>个人介绍</a:t>
            </a:r>
          </a:p>
        </p:txBody>
      </p:sp>
      <p:sp>
        <p:nvSpPr>
          <p:cNvPr id="20" name="TextBox 19"/>
          <p:cNvSpPr txBox="1"/>
          <p:nvPr/>
        </p:nvSpPr>
        <p:spPr>
          <a:xfrm>
            <a:off x="1268127" y="7808653"/>
            <a:ext cx="6048003" cy="1219354"/>
          </a:xfrm>
          <a:prstGeom prst="rect">
            <a:avLst/>
          </a:prstGeom>
          <a:noFill/>
        </p:spPr>
        <p:txBody>
          <a:bodyPr wrap="square">
            <a:spAutoFit/>
          </a:bodyPr>
          <a:lstStyle/>
          <a:p>
            <a:pPr algn="just">
              <a:lnSpc>
                <a:spcPct val="155000"/>
              </a:lnSpc>
            </a:pPr>
            <a:r>
              <a:rPr sz="1000" b="0" i="0">
                <a:solidFill>
                  <a:srgbClr val="222222"/>
                </a:solidFill>
                <a:latin typeface="Liberation Serif"/>
              </a:rPr>
              <a:t>Dr. Lup Wai Chew is an Assistant Professor in the Department of the Built Environment, College of Design and Engineering at the National University of Singapore (NUS). He is the principal investigator of the Airflow-Buildings-Cities Laboratory and CoolNUS Project. He obtained his PhD in Mechanical Engineering from Massachusetts Institute of Technology. Prior to NUS, he worked as a postdoctoral scholar at Stanford University. His specialization lies in urban airflow modelling, focusing on natural ventilation, outdoor wind field, and the physics of flows, using both experimental and numerical approaches. In his free time, he enjoys reading, painting and traveling.</a:t>
            </a:r>
          </a:p>
        </p:txBody>
      </p:sp>
      <p:sp>
        <p:nvSpPr>
          <p:cNvPr id="21" name="Rectangle 20"/>
          <p:cNvSpPr/>
          <p:nvPr/>
        </p:nvSpPr>
        <p:spPr>
          <a:xfrm>
            <a:off x="0" y="9003618"/>
            <a:ext cx="3780000" cy="1688382"/>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780000" y="9003618"/>
            <a:ext cx="3780000" cy="1688382"/>
          </a:xfrm>
          <a:prstGeom prst="rect">
            <a:avLst/>
          </a:prstGeom>
          <a:solidFill>
            <a:srgbClr val="F0EB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3870" y="9174327"/>
            <a:ext cx="3292260" cy="353612"/>
          </a:xfrm>
          <a:prstGeom prst="rect">
            <a:avLst/>
          </a:prstGeom>
          <a:noFill/>
        </p:spPr>
        <p:txBody>
          <a:bodyPr wrap="square">
            <a:spAutoFit/>
          </a:bodyPr>
          <a:lstStyle/>
          <a:p>
            <a:pPr algn="l"/>
            <a:r>
              <a:rPr sz="2600" b="1" i="0">
                <a:solidFill>
                  <a:srgbClr val="FFFFFF"/>
                </a:solidFill>
                <a:latin typeface="Noto Serif CJK SC"/>
              </a:rPr>
              <a:t>缩尺模型能否用于</a:t>
            </a:r>
          </a:p>
        </p:txBody>
      </p:sp>
      <p:sp>
        <p:nvSpPr>
          <p:cNvPr id="24" name="TextBox 23"/>
          <p:cNvSpPr txBox="1"/>
          <p:nvPr/>
        </p:nvSpPr>
        <p:spPr>
          <a:xfrm>
            <a:off x="243870" y="9515746"/>
            <a:ext cx="3292260" cy="353612"/>
          </a:xfrm>
          <a:prstGeom prst="rect">
            <a:avLst/>
          </a:prstGeom>
          <a:noFill/>
        </p:spPr>
        <p:txBody>
          <a:bodyPr wrap="square">
            <a:spAutoFit/>
          </a:bodyPr>
          <a:lstStyle/>
          <a:p>
            <a:pPr algn="l"/>
            <a:r>
              <a:rPr sz="2600" b="1" i="0">
                <a:solidFill>
                  <a:srgbClr val="FFFFFF"/>
                </a:solidFill>
                <a:latin typeface="Noto Serif CJK SC"/>
              </a:rPr>
              <a:t>城市气流研究？</a:t>
            </a:r>
          </a:p>
        </p:txBody>
      </p:sp>
      <p:sp>
        <p:nvSpPr>
          <p:cNvPr id="25" name="TextBox 24"/>
          <p:cNvSpPr txBox="1"/>
          <p:nvPr/>
        </p:nvSpPr>
        <p:spPr>
          <a:xfrm>
            <a:off x="243870" y="9905939"/>
            <a:ext cx="3292260" cy="195096"/>
          </a:xfrm>
          <a:prstGeom prst="rect">
            <a:avLst/>
          </a:prstGeom>
          <a:noFill/>
        </p:spPr>
        <p:txBody>
          <a:bodyPr wrap="square">
            <a:spAutoFit/>
          </a:bodyPr>
          <a:lstStyle/>
          <a:p>
            <a:pPr algn="l"/>
            <a:r>
              <a:rPr sz="1300" b="0" i="0">
                <a:solidFill>
                  <a:srgbClr val="FFFFFF"/>
                </a:solidFill>
                <a:latin typeface="Liberation Serif"/>
              </a:rPr>
              <a:t>Can We Study Urban Airflow</a:t>
            </a:r>
          </a:p>
        </p:txBody>
      </p:sp>
      <p:sp>
        <p:nvSpPr>
          <p:cNvPr id="26" name="TextBox 25"/>
          <p:cNvSpPr txBox="1"/>
          <p:nvPr/>
        </p:nvSpPr>
        <p:spPr>
          <a:xfrm>
            <a:off x="243870" y="10088842"/>
            <a:ext cx="3292260" cy="195096"/>
          </a:xfrm>
          <a:prstGeom prst="rect">
            <a:avLst/>
          </a:prstGeom>
          <a:noFill/>
        </p:spPr>
        <p:txBody>
          <a:bodyPr wrap="square">
            <a:spAutoFit/>
          </a:bodyPr>
          <a:lstStyle/>
          <a:p>
            <a:pPr algn="l"/>
            <a:r>
              <a:rPr sz="1300" b="0" i="0">
                <a:solidFill>
                  <a:srgbClr val="FFFFFF"/>
                </a:solidFill>
                <a:latin typeface="Liberation Serif"/>
              </a:rPr>
              <a:t>with Scaled-down Models?</a:t>
            </a:r>
          </a:p>
        </p:txBody>
      </p:sp>
      <p:pic>
        <p:nvPicPr>
          <p:cNvPr id="27" name="Picture 26" descr="sjtu_logo_inv.png"/>
          <p:cNvPicPr>
            <a:picLocks noChangeAspect="1"/>
          </p:cNvPicPr>
          <p:nvPr/>
        </p:nvPicPr>
        <p:blipFill>
          <a:blip r:embed="rId5"/>
          <a:stretch>
            <a:fillRect/>
          </a:stretch>
        </p:blipFill>
        <p:spPr>
          <a:xfrm>
            <a:off x="243870" y="10362775"/>
            <a:ext cx="882740" cy="231677"/>
          </a:xfrm>
          <a:prstGeom prst="rect">
            <a:avLst/>
          </a:prstGeom>
        </p:spPr>
      </p:pic>
      <p:sp>
        <p:nvSpPr>
          <p:cNvPr id="28" name="TextBox 27"/>
          <p:cNvSpPr txBox="1"/>
          <p:nvPr/>
        </p:nvSpPr>
        <p:spPr>
          <a:xfrm>
            <a:off x="3999483" y="9174327"/>
            <a:ext cx="731612" cy="207290"/>
          </a:xfrm>
          <a:prstGeom prst="rect">
            <a:avLst/>
          </a:prstGeom>
          <a:noFill/>
        </p:spPr>
        <p:txBody>
          <a:bodyPr wrap="square">
            <a:spAutoFit/>
          </a:bodyPr>
          <a:lstStyle/>
          <a:p>
            <a:pPr algn="l"/>
            <a:r>
              <a:rPr sz="1200" b="1" i="0">
                <a:solidFill>
                  <a:srgbClr val="8B1A1A"/>
                </a:solidFill>
                <a:latin typeface="Noto Serif CJK SC"/>
              </a:rPr>
              <a:t>主办单位：</a:t>
            </a:r>
          </a:p>
        </p:txBody>
      </p:sp>
      <p:sp>
        <p:nvSpPr>
          <p:cNvPr id="29" name="TextBox 28"/>
          <p:cNvSpPr txBox="1"/>
          <p:nvPr/>
        </p:nvSpPr>
        <p:spPr>
          <a:xfrm>
            <a:off x="4670128" y="9174327"/>
            <a:ext cx="2646002" cy="207290"/>
          </a:xfrm>
          <a:prstGeom prst="rect">
            <a:avLst/>
          </a:prstGeom>
          <a:noFill/>
        </p:spPr>
        <p:txBody>
          <a:bodyPr wrap="square">
            <a:spAutoFit/>
          </a:bodyPr>
          <a:lstStyle/>
          <a:p>
            <a:pPr algn="l"/>
            <a:r>
              <a:rPr sz="1200" b="0" i="0">
                <a:solidFill>
                  <a:srgbClr val="222222"/>
                </a:solidFill>
                <a:latin typeface="Noto Serif CJK SC"/>
              </a:rPr>
              <a:t>上海交通大学设计学院</a:t>
            </a:r>
          </a:p>
        </p:txBody>
      </p:sp>
      <p:sp>
        <p:nvSpPr>
          <p:cNvPr id="30" name="TextBox 29"/>
          <p:cNvSpPr txBox="1"/>
          <p:nvPr/>
        </p:nvSpPr>
        <p:spPr>
          <a:xfrm>
            <a:off x="3999483" y="9406004"/>
            <a:ext cx="731612" cy="207290"/>
          </a:xfrm>
          <a:prstGeom prst="rect">
            <a:avLst/>
          </a:prstGeom>
          <a:noFill/>
        </p:spPr>
        <p:txBody>
          <a:bodyPr wrap="square">
            <a:spAutoFit/>
          </a:bodyPr>
          <a:lstStyle/>
          <a:p>
            <a:pPr algn="l"/>
            <a:r>
              <a:rPr sz="1200" b="1" i="0">
                <a:solidFill>
                  <a:srgbClr val="8B1A1A"/>
                </a:solidFill>
                <a:latin typeface="Noto Serif CJK SC"/>
              </a:rPr>
              <a:t>时　　间：</a:t>
            </a:r>
          </a:p>
        </p:txBody>
      </p:sp>
      <p:sp>
        <p:nvSpPr>
          <p:cNvPr id="31" name="TextBox 30"/>
          <p:cNvSpPr txBox="1"/>
          <p:nvPr/>
        </p:nvSpPr>
        <p:spPr>
          <a:xfrm>
            <a:off x="4670128" y="9406004"/>
            <a:ext cx="2646002" cy="207290"/>
          </a:xfrm>
          <a:prstGeom prst="rect">
            <a:avLst/>
          </a:prstGeom>
          <a:noFill/>
        </p:spPr>
        <p:txBody>
          <a:bodyPr wrap="square">
            <a:spAutoFit/>
          </a:bodyPr>
          <a:lstStyle/>
          <a:p>
            <a:pPr algn="l"/>
            <a:r>
              <a:rPr sz="1200" b="0" i="0">
                <a:solidFill>
                  <a:srgbClr val="222222"/>
                </a:solidFill>
                <a:latin typeface="Noto Serif CJK SC"/>
              </a:rPr>
              <a:t>03/30  时间待定</a:t>
            </a:r>
          </a:p>
        </p:txBody>
      </p:sp>
      <p:sp>
        <p:nvSpPr>
          <p:cNvPr id="32" name="TextBox 31"/>
          <p:cNvSpPr txBox="1"/>
          <p:nvPr/>
        </p:nvSpPr>
        <p:spPr>
          <a:xfrm>
            <a:off x="3999483" y="9637681"/>
            <a:ext cx="731612" cy="207290"/>
          </a:xfrm>
          <a:prstGeom prst="rect">
            <a:avLst/>
          </a:prstGeom>
          <a:noFill/>
        </p:spPr>
        <p:txBody>
          <a:bodyPr wrap="square">
            <a:spAutoFit/>
          </a:bodyPr>
          <a:lstStyle/>
          <a:p>
            <a:pPr algn="l"/>
            <a:r>
              <a:rPr sz="1200" b="1" i="0">
                <a:solidFill>
                  <a:srgbClr val="8B1A1A"/>
                </a:solidFill>
                <a:latin typeface="Noto Serif CJK SC"/>
              </a:rPr>
              <a:t>地　　点：</a:t>
            </a:r>
          </a:p>
        </p:txBody>
      </p:sp>
      <p:sp>
        <p:nvSpPr>
          <p:cNvPr id="33" name="TextBox 32"/>
          <p:cNvSpPr txBox="1"/>
          <p:nvPr/>
        </p:nvSpPr>
        <p:spPr>
          <a:xfrm>
            <a:off x="4670128" y="9637681"/>
            <a:ext cx="2646002" cy="170709"/>
          </a:xfrm>
          <a:prstGeom prst="rect">
            <a:avLst/>
          </a:prstGeom>
          <a:noFill/>
        </p:spPr>
        <p:txBody>
          <a:bodyPr wrap="square">
            <a:spAutoFit/>
          </a:bodyPr>
          <a:lstStyle/>
          <a:p>
            <a:pPr algn="l"/>
            <a:r>
              <a:rPr sz="1200" b="0" i="0">
                <a:solidFill>
                  <a:srgbClr val="222222"/>
                </a:solidFill>
                <a:latin typeface="Noto Serif CJK SC"/>
              </a:rPr>
              <a:t>上海交通大学闵行校区</a:t>
            </a:r>
          </a:p>
        </p:txBody>
      </p:sp>
      <p:sp>
        <p:nvSpPr>
          <p:cNvPr id="34" name="TextBox 33"/>
          <p:cNvSpPr txBox="1"/>
          <p:nvPr/>
        </p:nvSpPr>
        <p:spPr>
          <a:xfrm>
            <a:off x="4670128" y="9796197"/>
            <a:ext cx="2646002" cy="170709"/>
          </a:xfrm>
          <a:prstGeom prst="rect">
            <a:avLst/>
          </a:prstGeom>
          <a:noFill/>
        </p:spPr>
        <p:txBody>
          <a:bodyPr wrap="square">
            <a:spAutoFit/>
          </a:bodyPr>
          <a:lstStyle/>
          <a:p>
            <a:pPr algn="l"/>
            <a:r>
              <a:rPr sz="1200" b="0" i="0">
                <a:solidFill>
                  <a:srgbClr val="222222"/>
                </a:solidFill>
                <a:latin typeface="Noto Serif CJK SC"/>
              </a:rPr>
              <a:t>设计学院（具体房间待定）</a:t>
            </a:r>
          </a:p>
        </p:txBody>
      </p:sp>
      <p:sp>
        <p:nvSpPr>
          <p:cNvPr id="35" name="TextBox 34"/>
          <p:cNvSpPr txBox="1"/>
          <p:nvPr/>
        </p:nvSpPr>
        <p:spPr>
          <a:xfrm>
            <a:off x="3999483" y="10003487"/>
            <a:ext cx="731612" cy="207290"/>
          </a:xfrm>
          <a:prstGeom prst="rect">
            <a:avLst/>
          </a:prstGeom>
          <a:noFill/>
        </p:spPr>
        <p:txBody>
          <a:bodyPr wrap="square">
            <a:spAutoFit/>
          </a:bodyPr>
          <a:lstStyle/>
          <a:p>
            <a:pPr algn="l"/>
            <a:r>
              <a:rPr sz="1200" b="1" i="0">
                <a:solidFill>
                  <a:srgbClr val="8B1A1A"/>
                </a:solidFill>
                <a:latin typeface="Noto Serif CJK SC"/>
              </a:rPr>
              <a:t>主 持 人：</a:t>
            </a:r>
          </a:p>
        </p:txBody>
      </p:sp>
      <p:sp>
        <p:nvSpPr>
          <p:cNvPr id="36" name="TextBox 35"/>
          <p:cNvSpPr txBox="1"/>
          <p:nvPr/>
        </p:nvSpPr>
        <p:spPr>
          <a:xfrm>
            <a:off x="4670128" y="10003487"/>
            <a:ext cx="2646002" cy="207290"/>
          </a:xfrm>
          <a:prstGeom prst="rect">
            <a:avLst/>
          </a:prstGeom>
          <a:noFill/>
        </p:spPr>
        <p:txBody>
          <a:bodyPr wrap="square">
            <a:spAutoFit/>
          </a:bodyPr>
          <a:lstStyle/>
          <a:p>
            <a:pPr algn="l"/>
            <a:r>
              <a:rPr sz="1200" b="0" i="0">
                <a:solidFill>
                  <a:srgbClr val="222222"/>
                </a:solidFill>
                <a:latin typeface="Noto Serif CJK SC"/>
              </a:rPr>
              <a:t>待定</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